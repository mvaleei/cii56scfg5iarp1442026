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63" r:id="rId11"/>
    <p:sldId id="266" r:id="rId12"/>
    <p:sldId id="267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9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424F3-C428-86A4-7E6E-B506BAC20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042DA27-4008-CD56-5A4B-420D6D7D9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F19DF1-B401-17C5-C1DC-DCE37BE6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2CEF07-91F9-2187-AB17-468DA8A9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808236-B353-51BD-D8CE-963867DD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943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8FB2FF-FC6D-946D-CA71-C534699C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E0CD50-F467-92AC-6DDD-0975F842A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E91B69-0210-680C-4A46-5A28A41F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EBE1B5-B883-2200-8E4F-1FF98B54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0C32C4-DDA0-CF24-C137-E736C3E7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364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5BA0B3-3563-32AB-EB40-27B790D9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947F26-9CBA-AF1B-5A75-6D0B20038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988944-803F-DC1E-07B5-C4661FE1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D450ED-7CB4-D4E6-ED46-A2BA2106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7A5EB4-3C07-9EDE-9124-118B578B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60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F91387-A5B7-2E9A-1017-03DEFB1C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00B6A-1F65-7E25-8383-50451EF34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501F31-DE78-548F-C552-51200AD56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D5BD1B-2D88-52AE-14EE-7343E854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F8F021-1389-415A-418D-3DD6C36E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4EDDB38-A23A-6374-9616-ACECF343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8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A6BB0F-2B00-E14C-3603-56E4E41F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BE6E51-8417-5134-6201-22334A23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9B2CA7C-7E41-7E15-B009-2EC2D60F8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C735BD0-B2C2-F9C0-6CED-03C02C962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495D22E-3DDA-4674-A083-CDAAE1607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E71900-BB98-CD65-196A-5FE10B7F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F865DAE-35C8-9AA7-004E-2CBC2EB4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0EC48AA-AC4B-AABF-B5E4-2648AF17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23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A11BC9-B582-9A01-D5E2-B5F5182F0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2CAB82A-F34D-AED3-79C1-D564822A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AC78B7-3FB6-4B27-7F1A-C9B7011B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323D652-1CF7-C340-D941-22FABA57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7034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E798B9-CF5C-62ED-89EA-AFB17C39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9643146-1F36-5ADB-F166-E4AE481D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153B92-A6FA-D6CC-0351-8C9693DB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6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F11A71-13B4-4BCA-809C-751FB060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940E0A-9801-B17F-F98B-F066EB7A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EB1EC1E-C6CF-069F-9ED2-527D1B332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24E032-65A1-F7DE-9DA3-C6B31B08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E00663-CBAE-ABFE-3838-90D68696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04CBBE-9811-5EA7-560F-20CCF6CA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074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69E2D0-DC5A-729C-9D10-97FA5F38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69B9229-772A-ED86-49D2-D13E88795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E515B1B-4F14-F529-6C57-2E1E38BDA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DBD41E-6DC8-8DCD-4145-3B2988BF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7D8469C-FAE6-3A87-4547-57895A14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8C1260-15B1-7B42-86C8-5B8367BD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7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A0AA7E-56A0-60D5-FFB1-B143FDD4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FFECB54-53D9-D0B9-C7B7-AFBE9A7B0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8A4FA3-9C0E-FE78-7C4D-BFA3BDA7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BEA5B9-E523-1F84-1D25-B4A44FCA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BCED59-3EDE-1244-BF4C-4AA6597D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79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80FF78E-4CED-05EC-177F-FB651D14A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68E55CF-F611-E51A-79C6-58935838B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03FDBF-6E4D-E9AF-775A-B1960238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3D0368-3668-095B-1A89-D8FED5BD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38113C-A1CB-DDD4-E2B1-5332867D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226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BD6EB40-DD27-DECF-D428-FC4F30BC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AD2EA9D-02E7-B6CC-7A00-5ED61139D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52A4F5-6EA5-C903-FC4C-B0320DCC2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D91E9-B01F-49E7-81FC-2C24A1CD642E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EB49DB-CB7A-2BC5-2DB8-3D83DEA5B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48F4A4-FB43-9F2B-7984-B428392EE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F6E6F-C208-4E12-A343-D64D287CDFE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083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6E9EAC0-0E59-B806-6D9F-C284AFE32508}"/>
              </a:ext>
            </a:extLst>
          </p:cNvPr>
          <p:cNvSpPr/>
          <p:nvPr/>
        </p:nvSpPr>
        <p:spPr>
          <a:xfrm>
            <a:off x="4906926" y="850605"/>
            <a:ext cx="1669311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INPUT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670D14E-69E7-2BE0-24D3-7AAEE37B7C79}"/>
              </a:ext>
            </a:extLst>
          </p:cNvPr>
          <p:cNvSpPr/>
          <p:nvPr/>
        </p:nvSpPr>
        <p:spPr>
          <a:xfrm>
            <a:off x="4662376" y="2682949"/>
            <a:ext cx="2083982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ELABORAZIONE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977091A-1CCD-5C9A-5F5D-94A91063B6CC}"/>
              </a:ext>
            </a:extLst>
          </p:cNvPr>
          <p:cNvSpPr/>
          <p:nvPr/>
        </p:nvSpPr>
        <p:spPr>
          <a:xfrm>
            <a:off x="4968949" y="4378842"/>
            <a:ext cx="1669311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OUTPUT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78F97DF-EC85-724E-D3B9-6141BC02AEA9}"/>
              </a:ext>
            </a:extLst>
          </p:cNvPr>
          <p:cNvCxnSpPr>
            <a:stCxn id="5" idx="3"/>
          </p:cNvCxnSpPr>
          <p:nvPr/>
        </p:nvCxnSpPr>
        <p:spPr>
          <a:xfrm>
            <a:off x="6746358" y="2970028"/>
            <a:ext cx="17543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B2DD564-803C-BB3C-07FE-6AF8F9D3ED16}"/>
              </a:ext>
            </a:extLst>
          </p:cNvPr>
          <p:cNvSpPr txBox="1"/>
          <p:nvPr/>
        </p:nvSpPr>
        <p:spPr>
          <a:xfrm>
            <a:off x="8729330" y="2746745"/>
            <a:ext cx="212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PROCESSORE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E4FBEBC-C01A-0E81-6F6B-DF876D7DCB87}"/>
              </a:ext>
            </a:extLst>
          </p:cNvPr>
          <p:cNvSpPr txBox="1"/>
          <p:nvPr/>
        </p:nvSpPr>
        <p:spPr>
          <a:xfrm>
            <a:off x="1382233" y="637953"/>
            <a:ext cx="1020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</a:t>
            </a:r>
          </a:p>
          <a:p>
            <a:r>
              <a:rPr lang="it-IT" dirty="0"/>
              <a:t>+</a:t>
            </a:r>
          </a:p>
          <a:p>
            <a:r>
              <a:rPr lang="it-IT" dirty="0"/>
              <a:t>2</a:t>
            </a:r>
          </a:p>
          <a:p>
            <a:r>
              <a:rPr lang="it-IT" dirty="0"/>
              <a:t>=</a:t>
            </a:r>
          </a:p>
          <a:p>
            <a:r>
              <a:rPr lang="it-IT" dirty="0"/>
              <a:t>4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C32F556-CF27-6055-072E-A25A09E0AA19}"/>
              </a:ext>
            </a:extLst>
          </p:cNvPr>
          <p:cNvCxnSpPr>
            <a:stCxn id="5" idx="1"/>
          </p:cNvCxnSpPr>
          <p:nvPr/>
        </p:nvCxnSpPr>
        <p:spPr>
          <a:xfrm flipH="1">
            <a:off x="2402958" y="2970028"/>
            <a:ext cx="2259418" cy="1538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AEF94A1-9DEE-0387-6270-634F549A5A4D}"/>
              </a:ext>
            </a:extLst>
          </p:cNvPr>
          <p:cNvSpPr txBox="1"/>
          <p:nvPr/>
        </p:nvSpPr>
        <p:spPr>
          <a:xfrm>
            <a:off x="1860698" y="4598581"/>
            <a:ext cx="118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292328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7131-C02C-97DD-E23B-2F9EA516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446AE7E-261D-EAAD-F784-33F5DF3813E9}"/>
              </a:ext>
            </a:extLst>
          </p:cNvPr>
          <p:cNvSpPr/>
          <p:nvPr/>
        </p:nvSpPr>
        <p:spPr>
          <a:xfrm>
            <a:off x="5598042" y="5094768"/>
            <a:ext cx="2083982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PROCESSORE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A2F2E26-D653-066D-FB57-F8C2F78CE253}"/>
              </a:ext>
            </a:extLst>
          </p:cNvPr>
          <p:cNvSpPr/>
          <p:nvPr/>
        </p:nvSpPr>
        <p:spPr>
          <a:xfrm>
            <a:off x="5518299" y="3746205"/>
            <a:ext cx="2227521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SISTEMA OPERATIVO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77816AB-FD74-2CEC-A9DA-23E340B08023}"/>
              </a:ext>
            </a:extLst>
          </p:cNvPr>
          <p:cNvSpPr txBox="1"/>
          <p:nvPr/>
        </p:nvSpPr>
        <p:spPr>
          <a:xfrm>
            <a:off x="701749" y="422495"/>
            <a:ext cx="1028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LINGUAGGIO DI PROGRAMMAZIONE: CIAO -&gt; COMPILATO I LINGUAGGIO MACCHINA (ASSEMBLER)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C9B6C257-6460-44C8-A0C6-DCD95092CA4A}"/>
              </a:ext>
            </a:extLst>
          </p:cNvPr>
          <p:cNvSpPr/>
          <p:nvPr/>
        </p:nvSpPr>
        <p:spPr>
          <a:xfrm>
            <a:off x="648586" y="2530549"/>
            <a:ext cx="2169042" cy="898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WINDOWS</a:t>
            </a:r>
          </a:p>
          <a:p>
            <a:pPr algn="ctr"/>
            <a:r>
              <a:rPr lang="it-IT" dirty="0"/>
              <a:t>SALUTI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FD01848-92E2-9399-79A5-04FAF6C9966A}"/>
              </a:ext>
            </a:extLst>
          </p:cNvPr>
          <p:cNvSpPr/>
          <p:nvPr/>
        </p:nvSpPr>
        <p:spPr>
          <a:xfrm>
            <a:off x="505046" y="4033284"/>
            <a:ext cx="2583712" cy="898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MAC</a:t>
            </a:r>
          </a:p>
          <a:p>
            <a:pPr algn="ctr"/>
            <a:r>
              <a:rPr lang="it-IT" dirty="0"/>
              <a:t>ARRIVEDERCI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EC3CD05A-CD6C-E4EB-1B23-D1A560181DD1}"/>
              </a:ext>
            </a:extLst>
          </p:cNvPr>
          <p:cNvSpPr/>
          <p:nvPr/>
        </p:nvSpPr>
        <p:spPr>
          <a:xfrm>
            <a:off x="648586" y="5686647"/>
            <a:ext cx="2169042" cy="8984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LINUX</a:t>
            </a:r>
          </a:p>
          <a:p>
            <a:pPr algn="ctr"/>
            <a:r>
              <a:rPr lang="it-IT" dirty="0"/>
              <a:t>BYE-BYE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BF4DD9C-1429-8AC3-2EA3-CDDAF1593541}"/>
              </a:ext>
            </a:extLst>
          </p:cNvPr>
          <p:cNvCxnSpPr/>
          <p:nvPr/>
        </p:nvCxnSpPr>
        <p:spPr>
          <a:xfrm>
            <a:off x="4848447" y="839972"/>
            <a:ext cx="483781" cy="361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7FDF0ED-DE37-9213-8752-CEB960450E78}"/>
              </a:ext>
            </a:extLst>
          </p:cNvPr>
          <p:cNvSpPr txBox="1"/>
          <p:nvPr/>
        </p:nvSpPr>
        <p:spPr>
          <a:xfrm>
            <a:off x="5486400" y="1015409"/>
            <a:ext cx="5422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SEMICOMPILATA (</a:t>
            </a:r>
            <a:r>
              <a:rPr lang="it-IT" dirty="0" err="1"/>
              <a:t>bytecode</a:t>
            </a:r>
            <a:r>
              <a:rPr lang="it-IT" dirty="0"/>
              <a:t>) - &gt; EDUCAZIONE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F38D55C5-2BB8-BC1F-DA37-208C90835CBC}"/>
              </a:ext>
            </a:extLst>
          </p:cNvPr>
          <p:cNvSpPr/>
          <p:nvPr/>
        </p:nvSpPr>
        <p:spPr>
          <a:xfrm>
            <a:off x="4901609" y="2065374"/>
            <a:ext cx="3795824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Java Virtual Machine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0BA52D7F-3F82-2726-5147-73E4EA61FE42}"/>
              </a:ext>
            </a:extLst>
          </p:cNvPr>
          <p:cNvCxnSpPr>
            <a:endCxn id="18" idx="0"/>
          </p:cNvCxnSpPr>
          <p:nvPr/>
        </p:nvCxnSpPr>
        <p:spPr>
          <a:xfrm flipH="1">
            <a:off x="6799521" y="1435395"/>
            <a:ext cx="2466753" cy="629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546DB12A-1B5E-DD32-6B41-C8251F5B7B88}"/>
              </a:ext>
            </a:extLst>
          </p:cNvPr>
          <p:cNvCxnSpPr>
            <a:stCxn id="18" idx="2"/>
            <a:endCxn id="7" idx="6"/>
          </p:cNvCxnSpPr>
          <p:nvPr/>
        </p:nvCxnSpPr>
        <p:spPr>
          <a:xfrm flipH="1">
            <a:off x="2817628" y="2522574"/>
            <a:ext cx="2083981" cy="45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EC6B6C1-8CDA-34D2-4678-76477EDC970D}"/>
              </a:ext>
            </a:extLst>
          </p:cNvPr>
          <p:cNvCxnSpPr>
            <a:stCxn id="18" idx="2"/>
            <a:endCxn id="11" idx="6"/>
          </p:cNvCxnSpPr>
          <p:nvPr/>
        </p:nvCxnSpPr>
        <p:spPr>
          <a:xfrm flipH="1">
            <a:off x="3088758" y="2522574"/>
            <a:ext cx="1812851" cy="1959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D46F3BAE-8E2C-A63B-5D1A-E5163AF8BD5E}"/>
              </a:ext>
            </a:extLst>
          </p:cNvPr>
          <p:cNvCxnSpPr>
            <a:stCxn id="18" idx="2"/>
            <a:endCxn id="14" idx="6"/>
          </p:cNvCxnSpPr>
          <p:nvPr/>
        </p:nvCxnSpPr>
        <p:spPr>
          <a:xfrm flipH="1">
            <a:off x="2817628" y="2522574"/>
            <a:ext cx="2083981" cy="3613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D224243-A192-6CCF-472F-ADAE87855D17}"/>
              </a:ext>
            </a:extLst>
          </p:cNvPr>
          <p:cNvSpPr txBox="1"/>
          <p:nvPr/>
        </p:nvSpPr>
        <p:spPr>
          <a:xfrm>
            <a:off x="5518299" y="1384741"/>
            <a:ext cx="406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MicroSoft</a:t>
            </a:r>
            <a:r>
              <a:rPr lang="it-IT" dirty="0"/>
              <a:t> Intermedia Language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6B03214-880B-2AD8-8DC0-023F76B8C3C1}"/>
              </a:ext>
            </a:extLst>
          </p:cNvPr>
          <p:cNvSpPr txBox="1"/>
          <p:nvPr/>
        </p:nvSpPr>
        <p:spPr>
          <a:xfrm>
            <a:off x="5279065" y="3111795"/>
            <a:ext cx="35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Common Language </a:t>
            </a:r>
            <a:r>
              <a:rPr lang="it-IT" dirty="0" err="1"/>
              <a:t>RunTime</a:t>
            </a:r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9A50530-520B-A6BE-FF5A-0FE499AE24CE}"/>
              </a:ext>
            </a:extLst>
          </p:cNvPr>
          <p:cNvSpPr txBox="1"/>
          <p:nvPr/>
        </p:nvSpPr>
        <p:spPr>
          <a:xfrm>
            <a:off x="4114800" y="3928730"/>
            <a:ext cx="1057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Just</a:t>
            </a:r>
          </a:p>
          <a:p>
            <a:r>
              <a:rPr lang="it-IT" dirty="0"/>
              <a:t>In time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869B1A6-1237-733F-03B5-71968D8A1CC5}"/>
              </a:ext>
            </a:extLst>
          </p:cNvPr>
          <p:cNvSpPr txBox="1"/>
          <p:nvPr/>
        </p:nvSpPr>
        <p:spPr>
          <a:xfrm>
            <a:off x="8383772" y="3111795"/>
            <a:ext cx="23710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.net</a:t>
            </a:r>
            <a:r>
              <a:rPr lang="it-IT" dirty="0"/>
              <a:t> Framework (Windows)</a:t>
            </a:r>
          </a:p>
          <a:p>
            <a:endParaRPr lang="it-IT" dirty="0"/>
          </a:p>
          <a:p>
            <a:r>
              <a:rPr lang="it-IT" dirty="0" err="1"/>
              <a:t>.net</a:t>
            </a:r>
            <a:r>
              <a:rPr lang="it-IT" dirty="0"/>
              <a:t> CORE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826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C8513E-EF5B-5520-55F9-126F840349E7}"/>
              </a:ext>
            </a:extLst>
          </p:cNvPr>
          <p:cNvSpPr txBox="1"/>
          <p:nvPr/>
        </p:nvSpPr>
        <p:spPr>
          <a:xfrm>
            <a:off x="680484" y="590107"/>
            <a:ext cx="56565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Variabile: Spazio atto a contenere dati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Non deve contenere spazi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Non deve contenere caratteri speciali (./?)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Non deve corrispondere ad una parola chiave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NON DEVE iniziare con un numero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Non inserire caratteri accentati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Valore(dati)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Elementari (primitivi)  (</a:t>
            </a:r>
            <a:r>
              <a:rPr lang="it-IT" dirty="0" err="1"/>
              <a:t>stack</a:t>
            </a:r>
            <a:r>
              <a:rPr lang="it-IT" dirty="0"/>
              <a:t> di memoria)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Intero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Double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 err="1"/>
              <a:t>Boolean</a:t>
            </a:r>
            <a:endParaRPr lang="it-IT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‘</a:t>
            </a:r>
            <a:r>
              <a:rPr lang="it-IT" dirty="0" err="1"/>
              <a:t>String</a:t>
            </a:r>
            <a:r>
              <a:rPr lang="it-IT" dirty="0"/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Oggetto (heap)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Contengono più valori</a:t>
            </a:r>
          </a:p>
        </p:txBody>
      </p:sp>
    </p:spTree>
    <p:extLst>
      <p:ext uri="{BB962C8B-B14F-4D97-AF65-F5344CB8AC3E}">
        <p14:creationId xmlns:p14="http://schemas.microsoft.com/office/powerpoint/2010/main" val="44590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B6D480-D8F4-4247-34B6-23FF84AA73F7}"/>
              </a:ext>
            </a:extLst>
          </p:cNvPr>
          <p:cNvSpPr txBox="1"/>
          <p:nvPr/>
        </p:nvSpPr>
        <p:spPr>
          <a:xfrm>
            <a:off x="707064" y="967563"/>
            <a:ext cx="67304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Linguaggi: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Tipologia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Descrittivi (html)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Programmazione (costrutti/</a:t>
            </a:r>
            <a:r>
              <a:rPr lang="it-IT" dirty="0" err="1"/>
              <a:t>statement</a:t>
            </a:r>
            <a:r>
              <a:rPr lang="it-IT" dirty="0"/>
              <a:t>)   </a:t>
            </a:r>
            <a:r>
              <a:rPr lang="it-IT" b="1" dirty="0"/>
              <a:t>C#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Tipo variabili: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Debolmente tipizzato (</a:t>
            </a:r>
            <a:r>
              <a:rPr lang="it-IT" dirty="0" err="1"/>
              <a:t>javascript</a:t>
            </a:r>
            <a:r>
              <a:rPr lang="it-IT" dirty="0"/>
              <a:t>/</a:t>
            </a:r>
            <a:r>
              <a:rPr lang="it-IT" dirty="0" err="1"/>
              <a:t>python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Fortemente tipizzato (</a:t>
            </a:r>
            <a:r>
              <a:rPr lang="it-IT" b="1" dirty="0"/>
              <a:t>C#</a:t>
            </a:r>
            <a:r>
              <a:rPr lang="it-IT" dirty="0"/>
              <a:t>/</a:t>
            </a:r>
            <a:r>
              <a:rPr lang="it-IT" dirty="0" err="1"/>
              <a:t>java,C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Oggetti: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Orientato ad oggetti (</a:t>
            </a:r>
            <a:r>
              <a:rPr lang="it-IT" dirty="0" err="1"/>
              <a:t>python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Nativo ad oggetti  (java/</a:t>
            </a:r>
            <a:r>
              <a:rPr lang="it-IT" b="1" dirty="0"/>
              <a:t>C#</a:t>
            </a:r>
            <a:r>
              <a:rPr lang="it-IT" dirty="0"/>
              <a:t>) </a:t>
            </a:r>
            <a:r>
              <a:rPr lang="it-IT" b="1" dirty="0"/>
              <a:t>O</a:t>
            </a:r>
            <a:r>
              <a:rPr lang="it-IT" dirty="0"/>
              <a:t>bject </a:t>
            </a:r>
            <a:r>
              <a:rPr lang="it-IT" b="1" dirty="0" err="1"/>
              <a:t>O</a:t>
            </a:r>
            <a:r>
              <a:rPr lang="it-IT" dirty="0" err="1"/>
              <a:t>riented</a:t>
            </a:r>
            <a:r>
              <a:rPr lang="it-IT" dirty="0"/>
              <a:t> </a:t>
            </a:r>
            <a:r>
              <a:rPr lang="it-IT" b="1" dirty="0"/>
              <a:t>P</a:t>
            </a:r>
            <a:r>
              <a:rPr lang="it-IT" dirty="0"/>
              <a:t>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Esecuzione: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Interpretato (</a:t>
            </a:r>
            <a:r>
              <a:rPr lang="it-IT" dirty="0" err="1"/>
              <a:t>javascript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Compilato  (</a:t>
            </a:r>
            <a:r>
              <a:rPr lang="it-IT" b="1" dirty="0"/>
              <a:t>C#</a:t>
            </a:r>
            <a:r>
              <a:rPr lang="it-I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Scripting (</a:t>
            </a:r>
            <a:r>
              <a:rPr lang="it-IT" dirty="0" err="1"/>
              <a:t>python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967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BILO Penna feltro punta fine punto 88 – Astuccio in cartone x 30 ...">
            <a:extLst>
              <a:ext uri="{FF2B5EF4-FFF2-40B4-BE49-F238E27FC236}">
                <a16:creationId xmlns:a16="http://schemas.microsoft.com/office/drawing/2014/main" id="{285BEAD1-6A12-A36C-B436-DE78DCE27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00" y="430619"/>
            <a:ext cx="3487966" cy="278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BE57FA-2283-4C70-8C3B-8D8B0625357C}"/>
              </a:ext>
            </a:extLst>
          </p:cNvPr>
          <p:cNvSpPr txBox="1"/>
          <p:nvPr/>
        </p:nvSpPr>
        <p:spPr>
          <a:xfrm>
            <a:off x="4401879" y="712381"/>
            <a:ext cx="2589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Specifiche tecniche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Cosa deve fare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D8AA269-CFDD-0671-1F47-0C7FD0215C64}"/>
              </a:ext>
            </a:extLst>
          </p:cNvPr>
          <p:cNvSpPr/>
          <p:nvPr/>
        </p:nvSpPr>
        <p:spPr>
          <a:xfrm>
            <a:off x="7070652" y="988828"/>
            <a:ext cx="1642730" cy="5688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PULSANTE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D2604B4-5BD4-4FA5-5E16-374AF280548C}"/>
              </a:ext>
            </a:extLst>
          </p:cNvPr>
          <p:cNvCxnSpPr/>
          <p:nvPr/>
        </p:nvCxnSpPr>
        <p:spPr>
          <a:xfrm>
            <a:off x="9117419" y="1360967"/>
            <a:ext cx="1047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AEB2177A-A12C-C0E8-3323-10C966F77C58}"/>
              </a:ext>
            </a:extLst>
          </p:cNvPr>
          <p:cNvSpPr/>
          <p:nvPr/>
        </p:nvSpPr>
        <p:spPr>
          <a:xfrm>
            <a:off x="10265735" y="1116417"/>
            <a:ext cx="1642730" cy="616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NUOVO</a:t>
            </a:r>
          </a:p>
          <a:p>
            <a:pPr algn="ctr"/>
            <a:r>
              <a:rPr lang="it-IT" dirty="0"/>
              <a:t>PENNARELLO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FE885AD-3E80-E823-9F76-D6B334BC7FAE}"/>
              </a:ext>
            </a:extLst>
          </p:cNvPr>
          <p:cNvSpPr txBox="1"/>
          <p:nvPr/>
        </p:nvSpPr>
        <p:spPr>
          <a:xfrm>
            <a:off x="4295553" y="2817628"/>
            <a:ext cx="25092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Classe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Proprietà (variabili)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Colore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Testo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Metodi (azione)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Scrivere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Eventi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Scaturisce dall’oggetto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it-IT" dirty="0"/>
              <a:t>Azione (metodo)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D5130C2-0F1C-C63A-40AE-3E5B16659552}"/>
              </a:ext>
            </a:extLst>
          </p:cNvPr>
          <p:cNvSpPr/>
          <p:nvPr/>
        </p:nvSpPr>
        <p:spPr>
          <a:xfrm>
            <a:off x="7581014" y="3880883"/>
            <a:ext cx="1828800" cy="1068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ISTANZA</a:t>
            </a:r>
          </a:p>
          <a:p>
            <a:pPr algn="ctr"/>
            <a:r>
              <a:rPr lang="it-IT" dirty="0"/>
              <a:t>ALLA </a:t>
            </a:r>
          </a:p>
          <a:p>
            <a:pPr algn="ctr"/>
            <a:r>
              <a:rPr lang="it-IT" dirty="0"/>
              <a:t>CLASSE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0329F50-6C7D-2BF5-3069-BE1217FC309D}"/>
              </a:ext>
            </a:extLst>
          </p:cNvPr>
          <p:cNvCxnSpPr/>
          <p:nvPr/>
        </p:nvCxnSpPr>
        <p:spPr>
          <a:xfrm>
            <a:off x="9537404" y="4522382"/>
            <a:ext cx="1047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A12F455B-1D07-6E5B-B8E8-552490488E1A}"/>
              </a:ext>
            </a:extLst>
          </p:cNvPr>
          <p:cNvSpPr/>
          <p:nvPr/>
        </p:nvSpPr>
        <p:spPr>
          <a:xfrm>
            <a:off x="10584711" y="4251250"/>
            <a:ext cx="1210340" cy="616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NUOVO</a:t>
            </a:r>
          </a:p>
          <a:p>
            <a:pPr algn="ctr"/>
            <a:r>
              <a:rPr lang="it-IT" dirty="0"/>
              <a:t>OGGETTO</a:t>
            </a:r>
          </a:p>
        </p:txBody>
      </p:sp>
    </p:spTree>
    <p:extLst>
      <p:ext uri="{BB962C8B-B14F-4D97-AF65-F5344CB8AC3E}">
        <p14:creationId xmlns:p14="http://schemas.microsoft.com/office/powerpoint/2010/main" val="340887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855DC2-50B1-4091-CF21-C84D504665AC}"/>
              </a:ext>
            </a:extLst>
          </p:cNvPr>
          <p:cNvSpPr txBox="1"/>
          <p:nvPr/>
        </p:nvSpPr>
        <p:spPr>
          <a:xfrm>
            <a:off x="701749" y="329609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Progetto: </a:t>
            </a:r>
            <a:r>
              <a:rPr lang="it-IT" dirty="0" err="1"/>
              <a:t>eta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0A38DF-F814-2EB7-BF46-6765D579DC4C}"/>
              </a:ext>
            </a:extLst>
          </p:cNvPr>
          <p:cNvSpPr txBox="1"/>
          <p:nvPr/>
        </p:nvSpPr>
        <p:spPr>
          <a:xfrm>
            <a:off x="802758" y="1137684"/>
            <a:ext cx="115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Nome: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668FB88-EA5F-47CC-40FC-7E862DDCD764}"/>
              </a:ext>
            </a:extLst>
          </p:cNvPr>
          <p:cNvSpPr/>
          <p:nvPr/>
        </p:nvSpPr>
        <p:spPr>
          <a:xfrm>
            <a:off x="2711302" y="1137684"/>
            <a:ext cx="185538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5A1A43-4747-D78A-C573-A54765E658EF}"/>
              </a:ext>
            </a:extLst>
          </p:cNvPr>
          <p:cNvSpPr txBox="1"/>
          <p:nvPr/>
        </p:nvSpPr>
        <p:spPr>
          <a:xfrm>
            <a:off x="802758" y="1945759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Anno di nascita: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5B63C54-15C2-E6BA-BC47-64DAAAD49A4F}"/>
              </a:ext>
            </a:extLst>
          </p:cNvPr>
          <p:cNvSpPr/>
          <p:nvPr/>
        </p:nvSpPr>
        <p:spPr>
          <a:xfrm>
            <a:off x="2711302" y="1945759"/>
            <a:ext cx="185538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F65B817-E5FC-D133-64F1-B7E82A32A67B}"/>
              </a:ext>
            </a:extLst>
          </p:cNvPr>
          <p:cNvSpPr/>
          <p:nvPr/>
        </p:nvSpPr>
        <p:spPr>
          <a:xfrm>
            <a:off x="882502" y="3072809"/>
            <a:ext cx="3684181" cy="489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Visualizza dati anagrafici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47760CC-AC74-F566-C3D2-0D38C7E7A87E}"/>
              </a:ext>
            </a:extLst>
          </p:cNvPr>
          <p:cNvCxnSpPr/>
          <p:nvPr/>
        </p:nvCxnSpPr>
        <p:spPr>
          <a:xfrm>
            <a:off x="3125972" y="3429000"/>
            <a:ext cx="457200" cy="1158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805B085-FDEE-1C8B-72E3-8E6A54DE578C}"/>
              </a:ext>
            </a:extLst>
          </p:cNvPr>
          <p:cNvSpPr txBox="1"/>
          <p:nvPr/>
        </p:nvSpPr>
        <p:spPr>
          <a:xfrm>
            <a:off x="3503428" y="4476307"/>
            <a:ext cx="531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tuo nome è: </a:t>
            </a:r>
            <a:r>
              <a:rPr lang="it-IT" dirty="0" err="1"/>
              <a:t>xxxx</a:t>
            </a:r>
            <a:r>
              <a:rPr lang="it-IT" dirty="0"/>
              <a:t> ed hai anni: </a:t>
            </a:r>
            <a:r>
              <a:rPr lang="it-IT" dirty="0">
                <a:sym typeface="Wingdings" panose="05000000000000000000" pitchFamily="2" charset="2"/>
              </a:rPr>
              <a:t>(calcolo)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6289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BF1441-0F0D-2F4B-FE10-5793964A5236}"/>
              </a:ext>
            </a:extLst>
          </p:cNvPr>
          <p:cNvSpPr txBox="1"/>
          <p:nvPr/>
        </p:nvSpPr>
        <p:spPr>
          <a:xfrm>
            <a:off x="632637" y="404037"/>
            <a:ext cx="732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Object </a:t>
            </a:r>
            <a:r>
              <a:rPr lang="it-IT" dirty="0" err="1"/>
              <a:t>Oriented</a:t>
            </a:r>
            <a:r>
              <a:rPr lang="it-IT" dirty="0"/>
              <a:t> Programming (Paradigma della programmazione)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FCA0231-D9D6-00E9-BE5C-8CF348FA8462}"/>
              </a:ext>
            </a:extLst>
          </p:cNvPr>
          <p:cNvSpPr/>
          <p:nvPr/>
        </p:nvSpPr>
        <p:spPr>
          <a:xfrm>
            <a:off x="9494874" y="861237"/>
            <a:ext cx="1461977" cy="499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Top(start)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4279F52-A490-0D96-FD84-78224E904F55}"/>
              </a:ext>
            </a:extLst>
          </p:cNvPr>
          <p:cNvSpPr/>
          <p:nvPr/>
        </p:nvSpPr>
        <p:spPr>
          <a:xfrm>
            <a:off x="9578162" y="5844363"/>
            <a:ext cx="1461977" cy="499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Down(end)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69E8BBFC-DADF-E680-2658-74549172C2E7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0225863" y="1360967"/>
            <a:ext cx="83288" cy="4483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mbo 8">
            <a:extLst>
              <a:ext uri="{FF2B5EF4-FFF2-40B4-BE49-F238E27FC236}">
                <a16:creationId xmlns:a16="http://schemas.microsoft.com/office/drawing/2014/main" id="{62EF271A-E5C8-ACF2-8529-EA922FD55205}"/>
              </a:ext>
            </a:extLst>
          </p:cNvPr>
          <p:cNvSpPr/>
          <p:nvPr/>
        </p:nvSpPr>
        <p:spPr>
          <a:xfrm>
            <a:off x="9702209" y="2705986"/>
            <a:ext cx="1111103" cy="106857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97391C01-50B0-75CB-50CA-607B49011945}"/>
              </a:ext>
            </a:extLst>
          </p:cNvPr>
          <p:cNvCxnSpPr>
            <a:stCxn id="9" idx="3"/>
          </p:cNvCxnSpPr>
          <p:nvPr/>
        </p:nvCxnSpPr>
        <p:spPr>
          <a:xfrm>
            <a:off x="10813312" y="3240272"/>
            <a:ext cx="802758" cy="13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195302A-CBD0-80E5-9F7F-0F949E9D2BD7}"/>
              </a:ext>
            </a:extLst>
          </p:cNvPr>
          <p:cNvCxnSpPr/>
          <p:nvPr/>
        </p:nvCxnSpPr>
        <p:spPr>
          <a:xfrm flipV="1">
            <a:off x="11616070" y="1940442"/>
            <a:ext cx="0" cy="1299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A760F40-A8EF-4F0D-FAB9-9673118F2051}"/>
              </a:ext>
            </a:extLst>
          </p:cNvPr>
          <p:cNvCxnSpPr/>
          <p:nvPr/>
        </p:nvCxnSpPr>
        <p:spPr>
          <a:xfrm flipH="1">
            <a:off x="10225863" y="1897912"/>
            <a:ext cx="13902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3FE9BD2B-2BDF-D664-3F77-ECB4C13A4D2D}"/>
              </a:ext>
            </a:extLst>
          </p:cNvPr>
          <p:cNvSpPr/>
          <p:nvPr/>
        </p:nvSpPr>
        <p:spPr>
          <a:xfrm>
            <a:off x="11286460" y="2344479"/>
            <a:ext cx="653901" cy="374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F1A3C99-1731-3511-9298-BB6672397849}"/>
              </a:ext>
            </a:extLst>
          </p:cNvPr>
          <p:cNvSpPr txBox="1"/>
          <p:nvPr/>
        </p:nvSpPr>
        <p:spPr>
          <a:xfrm>
            <a:off x="9361969" y="122998"/>
            <a:ext cx="2012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Programmazione</a:t>
            </a:r>
          </a:p>
          <a:p>
            <a:r>
              <a:rPr lang="it-IT" dirty="0"/>
              <a:t>Strutturata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ED4A35D-ED2D-EB8C-BD21-4D741694C495}"/>
              </a:ext>
            </a:extLst>
          </p:cNvPr>
          <p:cNvSpPr txBox="1"/>
          <p:nvPr/>
        </p:nvSpPr>
        <p:spPr>
          <a:xfrm>
            <a:off x="632637" y="1493874"/>
            <a:ext cx="60499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ASTRAZIONE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INCAPSULAMENTO (HIDING INFORMATION)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EREDITARIETà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POLIMORFISMO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b="1" dirty="0" err="1"/>
              <a:t>Overloading</a:t>
            </a:r>
            <a:endParaRPr lang="it-IT" b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u="sng" dirty="0" err="1"/>
              <a:t>Overriding</a:t>
            </a:r>
            <a:endParaRPr lang="it-IT" u="sng" dirty="0"/>
          </a:p>
        </p:txBody>
      </p:sp>
    </p:spTree>
    <p:extLst>
      <p:ext uri="{BB962C8B-B14F-4D97-AF65-F5344CB8AC3E}">
        <p14:creationId xmlns:p14="http://schemas.microsoft.com/office/powerpoint/2010/main" val="205658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305E53D-3353-35B4-7831-F5A529619F09}"/>
              </a:ext>
            </a:extLst>
          </p:cNvPr>
          <p:cNvSpPr txBox="1"/>
          <p:nvPr/>
        </p:nvSpPr>
        <p:spPr>
          <a:xfrm>
            <a:off x="744279" y="648586"/>
            <a:ext cx="6544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Nomeclasse</a:t>
            </a:r>
            <a:r>
              <a:rPr lang="it-IT" dirty="0"/>
              <a:t> </a:t>
            </a:r>
            <a:r>
              <a:rPr lang="it-IT" dirty="0" err="1"/>
              <a:t>nomenuovooggetto</a:t>
            </a:r>
            <a:r>
              <a:rPr lang="it-IT" dirty="0"/>
              <a:t> = new </a:t>
            </a:r>
            <a:r>
              <a:rPr lang="it-IT" dirty="0" err="1"/>
              <a:t>nomeclasse</a:t>
            </a:r>
            <a:r>
              <a:rPr lang="it-IT" dirty="0"/>
              <a:t>();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C1A6973-5316-F25E-1EB3-5645A8AD3660}"/>
              </a:ext>
            </a:extLst>
          </p:cNvPr>
          <p:cNvCxnSpPr/>
          <p:nvPr/>
        </p:nvCxnSpPr>
        <p:spPr>
          <a:xfrm>
            <a:off x="4433777" y="1017918"/>
            <a:ext cx="0" cy="917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F9BF53-449A-A668-9592-40D00FD8ACE9}"/>
              </a:ext>
            </a:extLst>
          </p:cNvPr>
          <p:cNvSpPr txBox="1"/>
          <p:nvPr/>
        </p:nvSpPr>
        <p:spPr>
          <a:xfrm>
            <a:off x="3859619" y="1998920"/>
            <a:ext cx="163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Vera istanza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C1A6046-4D94-A781-D13C-D2F2E0EC0172}"/>
              </a:ext>
            </a:extLst>
          </p:cNvPr>
          <p:cNvSpPr txBox="1"/>
          <p:nvPr/>
        </p:nvSpPr>
        <p:spPr>
          <a:xfrm>
            <a:off x="834656" y="3429000"/>
            <a:ext cx="465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</a:t>
            </a:r>
            <a:r>
              <a:rPr lang="it-IT" dirty="0" err="1"/>
              <a:t>pennaRossa</a:t>
            </a:r>
            <a:r>
              <a:rPr lang="it-IT" dirty="0"/>
              <a:t> = new pennarello();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42E9CF-105B-96FE-67A5-CF40127BEA3A}"/>
              </a:ext>
            </a:extLst>
          </p:cNvPr>
          <p:cNvSpPr txBox="1"/>
          <p:nvPr/>
        </p:nvSpPr>
        <p:spPr>
          <a:xfrm>
            <a:off x="834656" y="4186421"/>
            <a:ext cx="434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</a:t>
            </a:r>
            <a:r>
              <a:rPr lang="it-IT" dirty="0" err="1"/>
              <a:t>pennaNera</a:t>
            </a:r>
            <a:r>
              <a:rPr lang="it-IT" dirty="0"/>
              <a:t> = new pennarello();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63D4B4A-3139-2B5E-69E4-600BA141B13D}"/>
              </a:ext>
            </a:extLst>
          </p:cNvPr>
          <p:cNvSpPr txBox="1"/>
          <p:nvPr/>
        </p:nvSpPr>
        <p:spPr>
          <a:xfrm>
            <a:off x="669851" y="5481084"/>
            <a:ext cx="496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Matita </a:t>
            </a:r>
            <a:r>
              <a:rPr lang="it-IT" dirty="0" err="1"/>
              <a:t>matitaVerde</a:t>
            </a:r>
            <a:r>
              <a:rPr lang="it-IT" dirty="0"/>
              <a:t> = new matita();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DB22381-27C0-1209-7C0A-1AB6EA3166B4}"/>
              </a:ext>
            </a:extLst>
          </p:cNvPr>
          <p:cNvSpPr txBox="1"/>
          <p:nvPr/>
        </p:nvSpPr>
        <p:spPr>
          <a:xfrm>
            <a:off x="683140" y="5901808"/>
            <a:ext cx="496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Matita </a:t>
            </a:r>
            <a:r>
              <a:rPr lang="it-IT" dirty="0" err="1"/>
              <a:t>matitablue</a:t>
            </a:r>
            <a:r>
              <a:rPr lang="it-IT" dirty="0"/>
              <a:t> = new matita();</a:t>
            </a:r>
          </a:p>
        </p:txBody>
      </p:sp>
    </p:spTree>
    <p:extLst>
      <p:ext uri="{BB962C8B-B14F-4D97-AF65-F5344CB8AC3E}">
        <p14:creationId xmlns:p14="http://schemas.microsoft.com/office/powerpoint/2010/main" val="135368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06A5-6878-EC6D-5391-F38E31A4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C2A7A66D-D343-6932-0405-8684B52607F1}"/>
              </a:ext>
            </a:extLst>
          </p:cNvPr>
          <p:cNvSpPr txBox="1"/>
          <p:nvPr/>
        </p:nvSpPr>
        <p:spPr>
          <a:xfrm>
            <a:off x="611372" y="414669"/>
            <a:ext cx="465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</a:t>
            </a:r>
            <a:r>
              <a:rPr lang="it-IT" dirty="0" err="1"/>
              <a:t>pennaRossa</a:t>
            </a:r>
            <a:r>
              <a:rPr lang="it-IT" dirty="0"/>
              <a:t> = new pennarello();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94ACA91-1159-801C-E15C-AF4AD6587745}"/>
              </a:ext>
            </a:extLst>
          </p:cNvPr>
          <p:cNvSpPr txBox="1"/>
          <p:nvPr/>
        </p:nvSpPr>
        <p:spPr>
          <a:xfrm>
            <a:off x="611372" y="1172090"/>
            <a:ext cx="434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</a:t>
            </a:r>
            <a:r>
              <a:rPr lang="it-IT" dirty="0" err="1"/>
              <a:t>pennaNera</a:t>
            </a:r>
            <a:r>
              <a:rPr lang="it-IT" dirty="0"/>
              <a:t> = new pennarello();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E2A31E-3460-6E58-046B-7317C6D72217}"/>
              </a:ext>
            </a:extLst>
          </p:cNvPr>
          <p:cNvSpPr txBox="1"/>
          <p:nvPr/>
        </p:nvSpPr>
        <p:spPr>
          <a:xfrm>
            <a:off x="717698" y="2179674"/>
            <a:ext cx="4949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pennaRossa.Colore</a:t>
            </a:r>
            <a:r>
              <a:rPr lang="it-IT" dirty="0"/>
              <a:t> = ‘’rosso </a:t>
            </a:r>
            <a:r>
              <a:rPr lang="it-IT" dirty="0" err="1"/>
              <a:t>scuro’</a:t>
            </a:r>
            <a:r>
              <a:rPr lang="it-IT" dirty="0"/>
              <a:t>’</a:t>
            </a:r>
          </a:p>
          <a:p>
            <a:r>
              <a:rPr lang="it-IT" dirty="0" err="1"/>
              <a:t>pennaNera.colore</a:t>
            </a:r>
            <a:r>
              <a:rPr lang="it-IT" dirty="0"/>
              <a:t>=‘’Fumo di Londra’’</a:t>
            </a:r>
          </a:p>
        </p:txBody>
      </p:sp>
    </p:spTree>
    <p:extLst>
      <p:ext uri="{BB962C8B-B14F-4D97-AF65-F5344CB8AC3E}">
        <p14:creationId xmlns:p14="http://schemas.microsoft.com/office/powerpoint/2010/main" val="164116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936E39C-A974-93D7-E83B-F02FB79ABC62}"/>
              </a:ext>
            </a:extLst>
          </p:cNvPr>
          <p:cNvCxnSpPr/>
          <p:nvPr/>
        </p:nvCxnSpPr>
        <p:spPr>
          <a:xfrm>
            <a:off x="6416749" y="334926"/>
            <a:ext cx="79744" cy="6140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BCD30A-3620-799A-3ECE-B56FE725E8D6}"/>
              </a:ext>
            </a:extLst>
          </p:cNvPr>
          <p:cNvSpPr txBox="1"/>
          <p:nvPr/>
        </p:nvSpPr>
        <p:spPr>
          <a:xfrm>
            <a:off x="7320516" y="265814"/>
            <a:ext cx="388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Utilizzatore degli oggetti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73D52A2-58B4-AF5A-710D-02C6974AA403}"/>
              </a:ext>
            </a:extLst>
          </p:cNvPr>
          <p:cNvSpPr txBox="1"/>
          <p:nvPr/>
        </p:nvSpPr>
        <p:spPr>
          <a:xfrm>
            <a:off x="1380460" y="334926"/>
            <a:ext cx="388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Sviluppatore di classe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D361CD3-D018-2A87-0186-10D6C36D4CB3}"/>
              </a:ext>
            </a:extLst>
          </p:cNvPr>
          <p:cNvSpPr txBox="1"/>
          <p:nvPr/>
        </p:nvSpPr>
        <p:spPr>
          <a:xfrm>
            <a:off x="6751674" y="866553"/>
            <a:ext cx="4779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pen1 = new pennarello();</a:t>
            </a:r>
          </a:p>
          <a:p>
            <a:endParaRPr lang="it-IT" dirty="0"/>
          </a:p>
          <a:p>
            <a:r>
              <a:rPr lang="it-IT" dirty="0"/>
              <a:t>Pen1.colore=‘’Verde’’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C7DC753-AE45-585E-9E03-3D3729092ABD}"/>
              </a:ext>
            </a:extLst>
          </p:cNvPr>
          <p:cNvSpPr txBox="1"/>
          <p:nvPr/>
        </p:nvSpPr>
        <p:spPr>
          <a:xfrm>
            <a:off x="6847367" y="2291316"/>
            <a:ext cx="3843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Pen1.scrivere()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1FC3D4-C9C5-E73A-D780-197C7EBF6C67}"/>
              </a:ext>
            </a:extLst>
          </p:cNvPr>
          <p:cNvSpPr txBox="1"/>
          <p:nvPr/>
        </p:nvSpPr>
        <p:spPr>
          <a:xfrm>
            <a:off x="6953693" y="3205716"/>
            <a:ext cx="3960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 pen2 = new pennarello();</a:t>
            </a:r>
          </a:p>
          <a:p>
            <a:r>
              <a:rPr lang="it-IT" dirty="0"/>
              <a:t>Pen2.colore=‘’Giallo’’</a:t>
            </a:r>
          </a:p>
          <a:p>
            <a:r>
              <a:rPr lang="it-IT" dirty="0"/>
              <a:t>Pen2.scrivere()</a:t>
            </a:r>
          </a:p>
        </p:txBody>
      </p:sp>
    </p:spTree>
    <p:extLst>
      <p:ext uri="{BB962C8B-B14F-4D97-AF65-F5344CB8AC3E}">
        <p14:creationId xmlns:p14="http://schemas.microsoft.com/office/powerpoint/2010/main" val="91942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4BFC01A-69CA-D12E-4C7E-243048D2C40D}"/>
              </a:ext>
            </a:extLst>
          </p:cNvPr>
          <p:cNvSpPr txBox="1"/>
          <p:nvPr/>
        </p:nvSpPr>
        <p:spPr>
          <a:xfrm>
            <a:off x="871870" y="526312"/>
            <a:ext cx="628915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Costrutto </a:t>
            </a:r>
            <a:r>
              <a:rPr lang="it-IT" dirty="0" err="1"/>
              <a:t>if</a:t>
            </a:r>
            <a:r>
              <a:rPr lang="it-IT" dirty="0"/>
              <a:t>: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 err="1"/>
              <a:t>If</a:t>
            </a:r>
            <a:r>
              <a:rPr lang="it-IT" dirty="0"/>
              <a:t> (condizione/i){   (OBBLIGATORIO – CODICE SE VERO)</a:t>
            </a:r>
          </a:p>
          <a:p>
            <a:r>
              <a:rPr lang="it-IT" dirty="0"/>
              <a:t>	---- istruzioni se vero</a:t>
            </a:r>
          </a:p>
          <a:p>
            <a:r>
              <a:rPr lang="it-IT" dirty="0"/>
              <a:t>	----</a:t>
            </a:r>
          </a:p>
          <a:p>
            <a:r>
              <a:rPr lang="it-IT" dirty="0"/>
              <a:t>}</a:t>
            </a:r>
          </a:p>
          <a:p>
            <a:r>
              <a:rPr lang="it-IT" dirty="0"/>
              <a:t>Else </a:t>
            </a:r>
            <a:r>
              <a:rPr lang="it-IT" dirty="0" err="1"/>
              <a:t>if</a:t>
            </a:r>
            <a:r>
              <a:rPr lang="it-IT" dirty="0"/>
              <a:t> (condizione/i){	(FACOLTATIVO)</a:t>
            </a:r>
          </a:p>
          <a:p>
            <a:r>
              <a:rPr lang="it-IT" dirty="0"/>
              <a:t>	--</a:t>
            </a:r>
          </a:p>
          <a:p>
            <a:r>
              <a:rPr lang="it-IT" dirty="0"/>
              <a:t>}</a:t>
            </a:r>
          </a:p>
          <a:p>
            <a:r>
              <a:rPr lang="it-IT" dirty="0"/>
              <a:t>Else </a:t>
            </a:r>
            <a:r>
              <a:rPr lang="it-IT" dirty="0" err="1"/>
              <a:t>if</a:t>
            </a:r>
            <a:r>
              <a:rPr lang="it-IT" dirty="0"/>
              <a:t> (condizione/i){	(FACOLTATIVO)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}</a:t>
            </a:r>
          </a:p>
          <a:p>
            <a:r>
              <a:rPr lang="it-IT" dirty="0"/>
              <a:t>Else  (FACOLTATIVO)</a:t>
            </a:r>
          </a:p>
          <a:p>
            <a:r>
              <a:rPr lang="it-IT" dirty="0"/>
              <a:t>{</a:t>
            </a:r>
          </a:p>
          <a:p>
            <a:r>
              <a:rPr lang="it-IT" dirty="0"/>
              <a:t>	---istruzione se falso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850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F529C7-0E08-974D-4C01-BCA996B214DE}"/>
              </a:ext>
            </a:extLst>
          </p:cNvPr>
          <p:cNvSpPr txBox="1"/>
          <p:nvPr/>
        </p:nvSpPr>
        <p:spPr>
          <a:xfrm>
            <a:off x="723014" y="441251"/>
            <a:ext cx="334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CONDIZIONE: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C1CA26-C6AB-50EE-0491-C888D16B6C70}"/>
              </a:ext>
            </a:extLst>
          </p:cNvPr>
          <p:cNvSpPr txBox="1"/>
          <p:nvPr/>
        </p:nvSpPr>
        <p:spPr>
          <a:xfrm>
            <a:off x="919716" y="1520456"/>
            <a:ext cx="996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 dirty="0"/>
              <a:t>NOMEVARIABILEDACONTROLLARE</a:t>
            </a:r>
            <a:r>
              <a:rPr lang="it-IT" dirty="0"/>
              <a:t>		OPERATORE DI CONFRONTO	VALORE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38F308-8715-4390-8BE4-8276D5D8AEE9}"/>
              </a:ext>
            </a:extLst>
          </p:cNvPr>
          <p:cNvSpPr txBox="1"/>
          <p:nvPr/>
        </p:nvSpPr>
        <p:spPr>
          <a:xfrm>
            <a:off x="6560288" y="2200940"/>
            <a:ext cx="1834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&gt;</a:t>
            </a:r>
          </a:p>
          <a:p>
            <a:r>
              <a:rPr lang="it-IT" dirty="0"/>
              <a:t>&lt;</a:t>
            </a:r>
          </a:p>
          <a:p>
            <a:r>
              <a:rPr lang="it-IT" dirty="0"/>
              <a:t>&gt;=</a:t>
            </a:r>
          </a:p>
          <a:p>
            <a:r>
              <a:rPr lang="it-IT" dirty="0"/>
              <a:t>&lt;=</a:t>
            </a:r>
          </a:p>
          <a:p>
            <a:r>
              <a:rPr lang="it-IT" dirty="0"/>
              <a:t>!=  (diverso)</a:t>
            </a:r>
          </a:p>
          <a:p>
            <a:r>
              <a:rPr lang="it-IT" dirty="0"/>
              <a:t>== (uguale)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1B337A-C91A-AE7F-2D5F-DC7C97319FAA}"/>
              </a:ext>
            </a:extLst>
          </p:cNvPr>
          <p:cNvSpPr txBox="1"/>
          <p:nvPr/>
        </p:nvSpPr>
        <p:spPr>
          <a:xfrm>
            <a:off x="8973879" y="2860158"/>
            <a:ext cx="1648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1500</a:t>
            </a:r>
          </a:p>
          <a:p>
            <a:r>
              <a:rPr lang="it-IT" dirty="0"/>
              <a:t>25000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5B8C8B-6D23-11F3-7187-F64D54ED7506}"/>
              </a:ext>
            </a:extLst>
          </p:cNvPr>
          <p:cNvSpPr txBox="1"/>
          <p:nvPr/>
        </p:nvSpPr>
        <p:spPr>
          <a:xfrm>
            <a:off x="6379534" y="4194544"/>
            <a:ext cx="3572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Stringhe:</a:t>
            </a:r>
          </a:p>
          <a:p>
            <a:r>
              <a:rPr lang="it-IT" dirty="0"/>
              <a:t>.</a:t>
            </a:r>
            <a:r>
              <a:rPr lang="it-IT" dirty="0" err="1"/>
              <a:t>equals</a:t>
            </a:r>
            <a:r>
              <a:rPr lang="it-IT" dirty="0"/>
              <a:t>(‘’valore da confrontare’’)</a:t>
            </a:r>
          </a:p>
        </p:txBody>
      </p:sp>
    </p:spTree>
    <p:extLst>
      <p:ext uri="{BB962C8B-B14F-4D97-AF65-F5344CB8AC3E}">
        <p14:creationId xmlns:p14="http://schemas.microsoft.com/office/powerpoint/2010/main" val="981040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D405F-9C22-A6D4-B8FB-3F45C64B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987E50-E9C1-152D-B4EF-DE8076DD8062}"/>
              </a:ext>
            </a:extLst>
          </p:cNvPr>
          <p:cNvSpPr txBox="1"/>
          <p:nvPr/>
        </p:nvSpPr>
        <p:spPr>
          <a:xfrm>
            <a:off x="701749" y="329609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Progetto: fatture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A1F768E-C17B-F4BD-A2CB-B216F7675FEE}"/>
              </a:ext>
            </a:extLst>
          </p:cNvPr>
          <p:cNvSpPr txBox="1"/>
          <p:nvPr/>
        </p:nvSpPr>
        <p:spPr>
          <a:xfrm>
            <a:off x="802758" y="1137684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Importo unitario: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BBB2AC7-F8EC-C8D0-CA4F-FFE47D5FA920}"/>
              </a:ext>
            </a:extLst>
          </p:cNvPr>
          <p:cNvSpPr/>
          <p:nvPr/>
        </p:nvSpPr>
        <p:spPr>
          <a:xfrm>
            <a:off x="2711302" y="1137684"/>
            <a:ext cx="185538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12BA6E-4E40-A7F8-3CE9-6DDE3D91D993}"/>
              </a:ext>
            </a:extLst>
          </p:cNvPr>
          <p:cNvSpPr txBox="1"/>
          <p:nvPr/>
        </p:nvSpPr>
        <p:spPr>
          <a:xfrm>
            <a:off x="802758" y="1945759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Tipo prodotto: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388F89C-8B1C-E80E-DF46-C88703C6F2CF}"/>
              </a:ext>
            </a:extLst>
          </p:cNvPr>
          <p:cNvSpPr/>
          <p:nvPr/>
        </p:nvSpPr>
        <p:spPr>
          <a:xfrm>
            <a:off x="2711302" y="1945759"/>
            <a:ext cx="185538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0904331-C78F-3358-2FF6-B99552E4C1F1}"/>
              </a:ext>
            </a:extLst>
          </p:cNvPr>
          <p:cNvSpPr/>
          <p:nvPr/>
        </p:nvSpPr>
        <p:spPr>
          <a:xfrm>
            <a:off x="882502" y="3072809"/>
            <a:ext cx="3684181" cy="489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Visualizza dati riepilogativi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64A66C1-3981-9055-D9A3-B43B4617464C}"/>
              </a:ext>
            </a:extLst>
          </p:cNvPr>
          <p:cNvCxnSpPr/>
          <p:nvPr/>
        </p:nvCxnSpPr>
        <p:spPr>
          <a:xfrm>
            <a:off x="3125972" y="3429000"/>
            <a:ext cx="457200" cy="1158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B2981D5-DEE0-595D-19EA-C4C8FFD8847A}"/>
              </a:ext>
            </a:extLst>
          </p:cNvPr>
          <p:cNvSpPr txBox="1"/>
          <p:nvPr/>
        </p:nvSpPr>
        <p:spPr>
          <a:xfrm>
            <a:off x="3035596" y="4682685"/>
            <a:ext cx="795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Avendo acquistato un prodotto di tipo:           il saldo della fattura è: (calcolo)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C40B058-BB9F-FA51-F24E-0B7B594BEA63}"/>
              </a:ext>
            </a:extLst>
          </p:cNvPr>
          <p:cNvSpPr txBox="1"/>
          <p:nvPr/>
        </p:nvSpPr>
        <p:spPr>
          <a:xfrm>
            <a:off x="802758" y="2525382"/>
            <a:ext cx="190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Numero pezzi: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A58BAB6-8AF2-02B2-D75F-F0A6D123D576}"/>
              </a:ext>
            </a:extLst>
          </p:cNvPr>
          <p:cNvSpPr/>
          <p:nvPr/>
        </p:nvSpPr>
        <p:spPr>
          <a:xfrm>
            <a:off x="2711302" y="2525382"/>
            <a:ext cx="185538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3F91CCC-B638-0B7E-7A66-3B6FCAD549D0}"/>
              </a:ext>
            </a:extLst>
          </p:cNvPr>
          <p:cNvCxnSpPr/>
          <p:nvPr/>
        </p:nvCxnSpPr>
        <p:spPr>
          <a:xfrm flipV="1">
            <a:off x="4752753" y="1063256"/>
            <a:ext cx="3306726" cy="1185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FB9BB6-5C6A-B80A-5A90-4983D7507454}"/>
              </a:ext>
            </a:extLst>
          </p:cNvPr>
          <p:cNvSpPr txBox="1"/>
          <p:nvPr/>
        </p:nvSpPr>
        <p:spPr>
          <a:xfrm>
            <a:off x="8203019" y="802758"/>
            <a:ext cx="2408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– Alimentari (5)</a:t>
            </a:r>
          </a:p>
          <a:p>
            <a:r>
              <a:rPr lang="it-IT" dirty="0"/>
              <a:t>E – Edilizia (10)</a:t>
            </a:r>
          </a:p>
          <a:p>
            <a:r>
              <a:rPr lang="it-IT" dirty="0"/>
              <a:t>I – Informatica (22)</a:t>
            </a:r>
          </a:p>
          <a:p>
            <a:r>
              <a:rPr lang="it-IT" dirty="0"/>
              <a:t>L – Lusso (45)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CD6C1CF-D04A-B559-1168-B97C91B5347F}"/>
              </a:ext>
            </a:extLst>
          </p:cNvPr>
          <p:cNvCxnSpPr>
            <a:cxnSpLocks/>
          </p:cNvCxnSpPr>
          <p:nvPr/>
        </p:nvCxnSpPr>
        <p:spPr>
          <a:xfrm flipH="1">
            <a:off x="7176977" y="2003087"/>
            <a:ext cx="1796902" cy="2808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0D2D8A5-AB3B-CC88-57AF-1FEE36A983DA}"/>
              </a:ext>
            </a:extLst>
          </p:cNvPr>
          <p:cNvSpPr txBox="1"/>
          <p:nvPr/>
        </p:nvSpPr>
        <p:spPr>
          <a:xfrm>
            <a:off x="1430079" y="5651205"/>
            <a:ext cx="9053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</a:t>
            </a:r>
            <a:r>
              <a:rPr lang="it-IT" dirty="0" err="1"/>
              <a:t>Importounitario</a:t>
            </a:r>
            <a:r>
              <a:rPr lang="it-IT" dirty="0"/>
              <a:t> * numero pezzi) + (</a:t>
            </a:r>
            <a:r>
              <a:rPr lang="it-IT" dirty="0" err="1"/>
              <a:t>Importounitario</a:t>
            </a:r>
            <a:r>
              <a:rPr lang="it-IT" dirty="0"/>
              <a:t> * numero pezzi)  * iva /100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5B109F7-5DE7-6EBE-AAE7-EF5C8AECF43B}"/>
              </a:ext>
            </a:extLst>
          </p:cNvPr>
          <p:cNvCxnSpPr/>
          <p:nvPr/>
        </p:nvCxnSpPr>
        <p:spPr>
          <a:xfrm flipH="1">
            <a:off x="7889358" y="5052017"/>
            <a:ext cx="2105247" cy="57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71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D5FF-AFEB-AB46-46BE-8119F07DE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A3B90CD-284C-75B0-B341-AA609DE274F4}"/>
              </a:ext>
            </a:extLst>
          </p:cNvPr>
          <p:cNvCxnSpPr/>
          <p:nvPr/>
        </p:nvCxnSpPr>
        <p:spPr>
          <a:xfrm>
            <a:off x="6416749" y="334926"/>
            <a:ext cx="79744" cy="6140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AEBD64-1AD5-63DF-C70A-630CFCD8D7F2}"/>
              </a:ext>
            </a:extLst>
          </p:cNvPr>
          <p:cNvSpPr txBox="1"/>
          <p:nvPr/>
        </p:nvSpPr>
        <p:spPr>
          <a:xfrm>
            <a:off x="7320515" y="265814"/>
            <a:ext cx="438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Utilizzatore degli oggetti (</a:t>
            </a:r>
            <a:r>
              <a:rPr lang="it-IT" dirty="0" err="1"/>
              <a:t>btn_inserisci</a:t>
            </a:r>
            <a:r>
              <a:rPr lang="it-IT" dirty="0"/>
              <a:t>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76BF9B-47E8-85EF-2EE5-808A720C6D3F}"/>
              </a:ext>
            </a:extLst>
          </p:cNvPr>
          <p:cNvSpPr txBox="1"/>
          <p:nvPr/>
        </p:nvSpPr>
        <p:spPr>
          <a:xfrm>
            <a:off x="1380460" y="334926"/>
            <a:ext cx="388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Sviluppatore di classe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ADD38C-3619-2561-9BA4-B25A6D36FF71}"/>
              </a:ext>
            </a:extLst>
          </p:cNvPr>
          <p:cNvSpPr txBox="1"/>
          <p:nvPr/>
        </p:nvSpPr>
        <p:spPr>
          <a:xfrm>
            <a:off x="6751674" y="866553"/>
            <a:ext cx="477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Oggetto.Metodo1();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A9024F-ECC4-5E39-9106-0A2470BD1042}"/>
              </a:ext>
            </a:extLst>
          </p:cNvPr>
          <p:cNvSpPr txBox="1"/>
          <p:nvPr/>
        </p:nvSpPr>
        <p:spPr>
          <a:xfrm>
            <a:off x="536944" y="930349"/>
            <a:ext cx="4146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void</a:t>
            </a:r>
            <a:r>
              <a:rPr lang="it-IT" dirty="0"/>
              <a:t> metodo1(){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}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A7508BEA-4F63-E251-3210-5FEACF981529}"/>
              </a:ext>
            </a:extLst>
          </p:cNvPr>
          <p:cNvCxnSpPr>
            <a:stCxn id="8" idx="1"/>
          </p:cNvCxnSpPr>
          <p:nvPr/>
        </p:nvCxnSpPr>
        <p:spPr>
          <a:xfrm flipH="1">
            <a:off x="2716619" y="1051219"/>
            <a:ext cx="4035055" cy="495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C70A11F-0940-40BC-262D-07C7177D7ACB}"/>
              </a:ext>
            </a:extLst>
          </p:cNvPr>
          <p:cNvSpPr txBox="1"/>
          <p:nvPr/>
        </p:nvSpPr>
        <p:spPr>
          <a:xfrm>
            <a:off x="6751674" y="2078664"/>
            <a:ext cx="4699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Oggetto.Metodo2(valore1,valore2,…..);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7F5A636-93C9-8452-FFDE-B0ED5FE880EF}"/>
              </a:ext>
            </a:extLst>
          </p:cNvPr>
          <p:cNvSpPr txBox="1"/>
          <p:nvPr/>
        </p:nvSpPr>
        <p:spPr>
          <a:xfrm>
            <a:off x="103667" y="2176613"/>
            <a:ext cx="635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void</a:t>
            </a:r>
            <a:r>
              <a:rPr lang="it-IT" dirty="0"/>
              <a:t> metodo20(</a:t>
            </a:r>
            <a:r>
              <a:rPr lang="it-IT" dirty="0" err="1"/>
              <a:t>tipodato</a:t>
            </a:r>
            <a:r>
              <a:rPr lang="it-IT" dirty="0"/>
              <a:t> nomepar1,tipodato nomepar2){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----</a:t>
            </a:r>
          </a:p>
          <a:p>
            <a:r>
              <a:rPr lang="it-IT" dirty="0"/>
              <a:t>}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CD5650B-A386-2FCD-A241-6AA2EF04EA34}"/>
              </a:ext>
            </a:extLst>
          </p:cNvPr>
          <p:cNvCxnSpPr>
            <a:stCxn id="11" idx="1"/>
          </p:cNvCxnSpPr>
          <p:nvPr/>
        </p:nvCxnSpPr>
        <p:spPr>
          <a:xfrm flipH="1">
            <a:off x="5608674" y="2263330"/>
            <a:ext cx="1143000" cy="623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EC68635-899B-E630-E349-499AA48EF596}"/>
              </a:ext>
            </a:extLst>
          </p:cNvPr>
          <p:cNvSpPr txBox="1"/>
          <p:nvPr/>
        </p:nvSpPr>
        <p:spPr>
          <a:xfrm>
            <a:off x="6847367" y="3059668"/>
            <a:ext cx="375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Variabile = Oggetto.Metodo3();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1462183-927B-3B57-5F37-AD97C2A73510}"/>
              </a:ext>
            </a:extLst>
          </p:cNvPr>
          <p:cNvSpPr txBox="1"/>
          <p:nvPr/>
        </p:nvSpPr>
        <p:spPr>
          <a:xfrm>
            <a:off x="318977" y="3603033"/>
            <a:ext cx="5397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tipodidatodiritorno</a:t>
            </a:r>
            <a:r>
              <a:rPr lang="it-IT" dirty="0"/>
              <a:t> metodo3(){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dirty="0" err="1"/>
              <a:t>datodatornare</a:t>
            </a:r>
            <a:r>
              <a:rPr lang="it-IT" dirty="0"/>
              <a:t>;</a:t>
            </a:r>
          </a:p>
          <a:p>
            <a:r>
              <a:rPr lang="it-IT" dirty="0"/>
              <a:t>} 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8B4279E-44A6-C412-7B17-67011BE82BA3}"/>
              </a:ext>
            </a:extLst>
          </p:cNvPr>
          <p:cNvCxnSpPr>
            <a:cxnSpLocks/>
          </p:cNvCxnSpPr>
          <p:nvPr/>
        </p:nvCxnSpPr>
        <p:spPr>
          <a:xfrm flipH="1">
            <a:off x="4226442" y="3505359"/>
            <a:ext cx="2716618" cy="834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D15A5AE-6BCA-56F6-BACF-86BD00D0A0D7}"/>
              </a:ext>
            </a:extLst>
          </p:cNvPr>
          <p:cNvSpPr txBox="1"/>
          <p:nvPr/>
        </p:nvSpPr>
        <p:spPr>
          <a:xfrm>
            <a:off x="6930657" y="5167423"/>
            <a:ext cx="514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Variabile = oggetto.metodo4(valore1,valore2,….);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C9E5C2A-D81B-B82A-181A-5AF45DFBFAAF}"/>
              </a:ext>
            </a:extLst>
          </p:cNvPr>
          <p:cNvSpPr txBox="1"/>
          <p:nvPr/>
        </p:nvSpPr>
        <p:spPr>
          <a:xfrm>
            <a:off x="441251" y="5188987"/>
            <a:ext cx="53977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tipodidatodiritorno</a:t>
            </a:r>
            <a:r>
              <a:rPr lang="it-IT" dirty="0"/>
              <a:t> metodo4(</a:t>
            </a:r>
            <a:r>
              <a:rPr lang="it-IT" dirty="0" err="1"/>
              <a:t>tipodato</a:t>
            </a:r>
            <a:r>
              <a:rPr lang="it-IT" dirty="0"/>
              <a:t> par1,..){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dirty="0" err="1"/>
              <a:t>datodatornare</a:t>
            </a:r>
            <a:r>
              <a:rPr lang="it-IT" dirty="0"/>
              <a:t>;</a:t>
            </a:r>
          </a:p>
          <a:p>
            <a:r>
              <a:rPr lang="it-IT" dirty="0"/>
              <a:t>} 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D1C7F30-8725-6BFB-9CFA-B3352488566D}"/>
              </a:ext>
            </a:extLst>
          </p:cNvPr>
          <p:cNvCxnSpPr>
            <a:stCxn id="19" idx="1"/>
          </p:cNvCxnSpPr>
          <p:nvPr/>
        </p:nvCxnSpPr>
        <p:spPr>
          <a:xfrm flipH="1">
            <a:off x="5261344" y="5352089"/>
            <a:ext cx="1669313" cy="57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246C677-F1F0-2786-B1E7-A64F7D899648}"/>
              </a:ext>
            </a:extLst>
          </p:cNvPr>
          <p:cNvCxnSpPr>
            <a:cxnSpLocks/>
          </p:cNvCxnSpPr>
          <p:nvPr/>
        </p:nvCxnSpPr>
        <p:spPr>
          <a:xfrm>
            <a:off x="9744740" y="2636874"/>
            <a:ext cx="855921" cy="1285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5B4BB06-B5B7-DDAC-80CF-2AA83863A80D}"/>
              </a:ext>
            </a:extLst>
          </p:cNvPr>
          <p:cNvCxnSpPr>
            <a:cxnSpLocks/>
          </p:cNvCxnSpPr>
          <p:nvPr/>
        </p:nvCxnSpPr>
        <p:spPr>
          <a:xfrm flipH="1" flipV="1">
            <a:off x="10600661" y="3936705"/>
            <a:ext cx="58479" cy="986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1E5F8E2F-8C5D-F739-20FB-021E4D9F84DD}"/>
              </a:ext>
            </a:extLst>
          </p:cNvPr>
          <p:cNvSpPr txBox="1"/>
          <p:nvPr/>
        </p:nvSpPr>
        <p:spPr>
          <a:xfrm>
            <a:off x="8383772" y="392248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Provvisti di firma</a:t>
            </a:r>
          </a:p>
        </p:txBody>
      </p:sp>
    </p:spTree>
    <p:extLst>
      <p:ext uri="{BB962C8B-B14F-4D97-AF65-F5344CB8AC3E}">
        <p14:creationId xmlns:p14="http://schemas.microsoft.com/office/powerpoint/2010/main" val="3441602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A775C45-832B-0171-4FCD-2A9D4B764850}"/>
              </a:ext>
            </a:extLst>
          </p:cNvPr>
          <p:cNvSpPr txBox="1"/>
          <p:nvPr/>
        </p:nvSpPr>
        <p:spPr>
          <a:xfrm>
            <a:off x="951614" y="813391"/>
            <a:ext cx="206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penna1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7F89207C-87CC-5C6F-591C-C5CCC3ECA34F}"/>
              </a:ext>
            </a:extLst>
          </p:cNvPr>
          <p:cNvSpPr/>
          <p:nvPr/>
        </p:nvSpPr>
        <p:spPr>
          <a:xfrm>
            <a:off x="4678326" y="1621465"/>
            <a:ext cx="2854841" cy="12067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aed23eee4a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8FA7D84-BC37-D2F6-70D3-29F9A02A1601}"/>
              </a:ext>
            </a:extLst>
          </p:cNvPr>
          <p:cNvCxnSpPr>
            <a:endCxn id="5" idx="2"/>
          </p:cNvCxnSpPr>
          <p:nvPr/>
        </p:nvCxnSpPr>
        <p:spPr>
          <a:xfrm>
            <a:off x="1759688" y="1047307"/>
            <a:ext cx="2918638" cy="1177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99BECA5-880F-164C-2D43-46A4E6B691B3}"/>
              </a:ext>
            </a:extLst>
          </p:cNvPr>
          <p:cNvSpPr txBox="1"/>
          <p:nvPr/>
        </p:nvSpPr>
        <p:spPr>
          <a:xfrm>
            <a:off x="855921" y="2224863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Penna2=penna1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E10C7341-15F2-E1EE-15FE-9FD9B1702112}"/>
              </a:ext>
            </a:extLst>
          </p:cNvPr>
          <p:cNvCxnSpPr>
            <a:stCxn id="5" idx="3"/>
          </p:cNvCxnSpPr>
          <p:nvPr/>
        </p:nvCxnSpPr>
        <p:spPr>
          <a:xfrm flipH="1">
            <a:off x="2838893" y="2651529"/>
            <a:ext cx="2257515" cy="1521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1D000BB-2284-81B5-E613-7D2F5A9919D9}"/>
              </a:ext>
            </a:extLst>
          </p:cNvPr>
          <p:cNvSpPr txBox="1"/>
          <p:nvPr/>
        </p:nvSpPr>
        <p:spPr>
          <a:xfrm>
            <a:off x="1759688" y="4263806"/>
            <a:ext cx="1031359" cy="371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penna2</a:t>
            </a:r>
          </a:p>
        </p:txBody>
      </p:sp>
    </p:spTree>
    <p:extLst>
      <p:ext uri="{BB962C8B-B14F-4D97-AF65-F5344CB8AC3E}">
        <p14:creationId xmlns:p14="http://schemas.microsoft.com/office/powerpoint/2010/main" val="3205595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646</Words>
  <Application>Microsoft Office PowerPoint</Application>
  <PresentationFormat>Widescreen</PresentationFormat>
  <Paragraphs>185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16</cp:revision>
  <dcterms:created xsi:type="dcterms:W3CDTF">2026-04-14T07:52:15Z</dcterms:created>
  <dcterms:modified xsi:type="dcterms:W3CDTF">2026-04-17T14:50:10Z</dcterms:modified>
</cp:coreProperties>
</file>